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37160" cy="6528816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Image Forgery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9FD4"/>
                </a:solidFill>
              </a:rPr>
              <a:t>Using Dual-Branch CNN with Error Level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578608"/>
            <a:ext cx="5760720" cy="254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FE4F6"/>
                </a:solidFill>
              </a:rPr>
              <a:t>Salman Zaman  ·  Muhammad Usama Alam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729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FE4F6"/>
                </a:solidFill>
              </a:rPr>
              <a:t>Project Coordinator: Sajid Majeed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FC1E6"/>
                </a:solidFill>
              </a:rPr>
              <a:t>NED University of Engineering and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416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6CF"/>
                </a:solidFill>
              </a:rPr>
              <a:t>Post Graduate Diploma in Generative AI  ·  Deep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6CF"/>
                </a:solidFill>
              </a:rPr>
              <a:t>June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652881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FB6CF"/>
                </a:solidFill>
              </a:rPr>
              <a:t>NED University of Engineering &amp; Technology  ·  PG Diploma in Generative AI  ·  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52881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FB6CF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960120"/>
            <a:ext cx="12079224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— Image Forgery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C1E6"/>
                </a:solidFill>
              </a:rPr>
              <a:t>Why does it matter?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52881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FB6CF"/>
                </a:solidFill>
              </a:rPr>
              <a:t>NED University of Engineering &amp; Technology  ·  PG Diploma in Generative AI  · 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2881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FB6CF"/>
                </a:solidFill>
              </a:rPr>
              <a:t>2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5303520" cy="475488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38100" cy="47548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71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60C"/>
                </a:solidFill>
              </a:rPr>
              <a:t>What is Image Forgery?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 b="0">
                <a:solidFill>
                  <a:srgbClr val="CFE4F6"/>
                </a:solidFill>
              </a:defRPr>
            </a:pPr>
            <a:r>
              <a:t>Splicing — pasting content from another image</a:t>
            </a:r>
          </a:p>
          <a:p>
            <a:pPr>
              <a:spcBef>
                <a:spcPts val="400"/>
              </a:spcBef>
              <a:defRPr sz="1400" b="0">
                <a:solidFill>
                  <a:srgbClr val="CFE4F6"/>
                </a:solidFill>
              </a:defRPr>
            </a:pPr>
            <a:r>
              <a:t>Copy-Move — duplicating regions within an image</a:t>
            </a:r>
          </a:p>
          <a:p>
            <a:pPr>
              <a:spcBef>
                <a:spcPts val="400"/>
              </a:spcBef>
              <a:defRPr sz="1400" b="0">
                <a:solidFill>
                  <a:srgbClr val="CFE4F6"/>
                </a:solidFill>
              </a:defRPr>
            </a:pPr>
            <a:r>
              <a:t>Inpainting — removing/replacing objects</a:t>
            </a:r>
          </a:p>
          <a:p>
            <a:pPr>
              <a:spcBef>
                <a:spcPts val="400"/>
              </a:spcBef>
              <a:defRPr sz="1400" b="0">
                <a:solidFill>
                  <a:srgbClr val="CFE4F6"/>
                </a:solidFill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CFE4F6"/>
                </a:solidFill>
              </a:defRPr>
            </a:pPr>
            <a:r>
              <a:t>Real-World Impact:</a:t>
            </a:r>
          </a:p>
          <a:p>
            <a:pPr>
              <a:spcBef>
                <a:spcPts val="400"/>
              </a:spcBef>
              <a:defRPr sz="1400" b="0">
                <a:solidFill>
                  <a:srgbClr val="CFE4F6"/>
                </a:solidFill>
              </a:defRPr>
            </a:pPr>
            <a:r>
              <a:t>  Fake news &amp; misinformation spread</a:t>
            </a:r>
          </a:p>
          <a:p>
            <a:pPr>
              <a:spcBef>
                <a:spcPts val="400"/>
              </a:spcBef>
              <a:defRPr sz="1400" b="0">
                <a:solidFill>
                  <a:srgbClr val="CFE4F6"/>
                </a:solidFill>
              </a:defRPr>
            </a:pPr>
            <a:r>
              <a:t>  Tampered legal &amp; forensic evidence</a:t>
            </a:r>
          </a:p>
          <a:p>
            <a:pPr>
              <a:spcBef>
                <a:spcPts val="400"/>
              </a:spcBef>
              <a:defRPr sz="1400" b="0">
                <a:solidFill>
                  <a:srgbClr val="CFE4F6"/>
                </a:solidFill>
              </a:defRPr>
            </a:pPr>
            <a:r>
              <a:t>  Manipulated medical scans</a:t>
            </a:r>
          </a:p>
          <a:p>
            <a:pPr>
              <a:spcBef>
                <a:spcPts val="400"/>
              </a:spcBef>
              <a:defRPr sz="1400" b="0">
                <a:solidFill>
                  <a:srgbClr val="CFE4F6"/>
                </a:solidFill>
              </a:defRPr>
            </a:pPr>
            <a:r>
              <a:t>  Academic fraud &amp; document forgery</a:t>
            </a:r>
          </a:p>
        </p:txBody>
      </p:sp>
      <p:pic>
        <p:nvPicPr>
          <p:cNvPr id="15" name="Picture 14" descr="Au_sec_30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2834640" cy="2148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3600" y="34015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AUTHENTIC</a:t>
            </a:r>
          </a:p>
        </p:txBody>
      </p:sp>
      <p:pic>
        <p:nvPicPr>
          <p:cNvPr id="17" name="Picture 16" descr="Tp_S_NRN_S_O_cha00077_cha00077_110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280160"/>
            <a:ext cx="2926080" cy="2148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52560" y="3401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FORGED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749039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8960C"/>
                </a:solidFill>
              </a:rPr>
              <a:t>Can you tell the difference?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16052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FC1E6"/>
                </a:solidFill>
              </a:rPr>
              <a:t>Traditional visual inspection often fails.
Automated forensic analysis is essential.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960120"/>
            <a:ext cx="12079224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Error Level Analysis (ELA)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C1E6"/>
                </a:solidFill>
              </a:rPr>
              <a:t>The core forensic technique powering our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52881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FB6CF"/>
                </a:solidFill>
              </a:rPr>
              <a:t>NED University of Engineering &amp; Technology  ·  PG Diploma in Generative AI  · 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2881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FB6CF"/>
                </a:solidFill>
              </a:rPr>
              <a:t>3 / 11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30000" cy="3108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760" y="4343400"/>
            <a:ext cx="5394960" cy="214884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343400"/>
            <a:ext cx="38100" cy="214884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0C"/>
                </a:solidFill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64608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1  Re-save image as JPEG (quality = 90)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2  Compute pixel-wise difference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3  Amplify by 15× (brightness enhance)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4  Encode result as JPEG bytes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5  Decode via tf.image for consistent resize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4343400"/>
            <a:ext cx="5806440" cy="214884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343400"/>
            <a:ext cx="38100" cy="21488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480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0C"/>
                </a:solidFill>
              </a:rPr>
              <a:t>The forensic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864608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Original regions: uniform, low ELA residual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Tampered regions: high ELA — re-saved at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  a different quality than the background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Bright patches in ELA map = manipulation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The model learns to read this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960120"/>
            <a:ext cx="12079224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Architecture — Dual-Branch CNN (M3)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C1E6"/>
                </a:solidFill>
              </a:rPr>
              <a:t>Two complementary views fused into one powerful classifier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52881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FB6CF"/>
                </a:solidFill>
              </a:rPr>
              <a:t>NED University of Engineering &amp; Technology  ·  PG Diploma in Generative AI  · 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2881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FB6CF"/>
                </a:solidFill>
              </a:rPr>
              <a:t>4 / 11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4206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4320" y="5815584"/>
            <a:ext cx="2724912" cy="658368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5815584"/>
            <a:ext cx="38100" cy="658368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8521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0C"/>
                </a:solidFill>
              </a:rPr>
              <a:t>RGB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1081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4F6"/>
                </a:solidFill>
              </a:rPr>
              <a:t>ResNet50 frozen
~23.5M params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5815584"/>
            <a:ext cx="2724912" cy="658368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0" y="5815584"/>
            <a:ext cx="38100" cy="658368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58521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0C"/>
                </a:solidFill>
              </a:rPr>
              <a:t>ELA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61081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4F6"/>
                </a:solidFill>
              </a:rPr>
              <a:t>Custom 3-block CNN
~650K trainable params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5815584"/>
            <a:ext cx="2724912" cy="658368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5815584"/>
            <a:ext cx="38100" cy="658368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58521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0C"/>
                </a:solidFill>
              </a:rPr>
              <a:t>Fusion 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61081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4F6"/>
                </a:solidFill>
              </a:rPr>
              <a:t>Dense(256)+Dropout
→ Binary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5815584"/>
            <a:ext cx="2724912" cy="658368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240" y="5815584"/>
            <a:ext cx="38100" cy="658368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58521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0C"/>
                </a:solidFill>
              </a:rPr>
              <a:t>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61081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4F6"/>
                </a:solidFill>
              </a:rPr>
              <a:t>~24.2M params
ELA branch is dominant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960120"/>
            <a:ext cx="12079224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Ablation Study — Why ELA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C1E6"/>
                </a:solidFill>
              </a:rPr>
              <a:t>Isolating the contribution of each branch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52881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FB6CF"/>
                </a:solidFill>
              </a:rPr>
              <a:t>NED University of Engineering &amp; Technology  ·  PG Diploma in Generative AI  · 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2881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FB6CF"/>
                </a:solidFill>
              </a:rPr>
              <a:t>5 / 11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583680" cy="411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223760" y="1188720"/>
            <a:ext cx="4663440" cy="411480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3760" y="1188720"/>
            <a:ext cx="38100" cy="411480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3533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60C"/>
                </a:solidFill>
              </a:rPr>
              <a:t>Key Findings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828800"/>
            <a:ext cx="4343400" cy="86868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1828800"/>
            <a:ext cx="38100" cy="868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188366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M1 — RGB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221284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4F6"/>
                </a:solidFill>
              </a:rPr>
              <a:t>AUC 0.58  ≈ random guess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2834640"/>
            <a:ext cx="4343400" cy="86868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2834640"/>
            <a:ext cx="38100" cy="8686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288950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M2 — ELA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32186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4F6"/>
                </a:solidFill>
              </a:rPr>
              <a:t>AUC 0.98  near-perfect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3840480"/>
            <a:ext cx="4343400" cy="86868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3840480"/>
            <a:ext cx="38100" cy="86868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8" y="38953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FD4"/>
                </a:solidFill>
              </a:rPr>
              <a:t>M3 — Dual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422452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4F6"/>
                </a:solidFill>
              </a:rPr>
              <a:t>AUC 0.97  best overall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8006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FC1E6"/>
                </a:solidFill>
              </a:rPr>
              <a:t>The model is fundamentally ELA-driven.
ResNet50 provides complementary texture
context but does not dominate.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960120"/>
            <a:ext cx="12079224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&amp;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C1E6"/>
                </a:solidFill>
              </a:rPr>
              <a:t>CASIA v2 — the standard benchmark for image forgery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52881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FB6CF"/>
                </a:solidFill>
              </a:rPr>
              <a:t>NED University of Engineering &amp; Technology  ·  PG Diploma in Generative AI  · 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2881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FB6CF"/>
                </a:solidFill>
              </a:rPr>
              <a:t>6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2743200" cy="128016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38100" cy="128016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35331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9FD4"/>
                </a:solidFill>
              </a:rPr>
              <a:t>7,492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874519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FE4F6"/>
                </a:solidFill>
              </a:rPr>
              <a:t>Authentic
images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7248" y="1234440"/>
            <a:ext cx="2743200" cy="128016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27248" y="1234440"/>
            <a:ext cx="38100" cy="128016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7248" y="135331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9FD4"/>
                </a:solidFill>
              </a:rPr>
              <a:t>5,124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874519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FE4F6"/>
                </a:solidFill>
              </a:rPr>
              <a:t>Tampered
images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0176" y="1234440"/>
            <a:ext cx="2743200" cy="128016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0176" y="1234440"/>
            <a:ext cx="38100" cy="128016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0176" y="135331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9FD4"/>
                </a:solidFill>
              </a:rPr>
              <a:t>12,616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1874519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FE4F6"/>
                </a:solidFill>
              </a:rPr>
              <a:t>Total
images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33104" y="1234440"/>
            <a:ext cx="2743200" cy="128016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33104" y="1234440"/>
            <a:ext cx="38100" cy="128016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33104" y="135331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9FD4"/>
                </a:solidFill>
              </a:rPr>
              <a:t>70/15/15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1874519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FE4F6"/>
                </a:solidFill>
              </a:rPr>
              <a:t>Train/Val/Test
split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743200"/>
            <a:ext cx="5486400" cy="347472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2743200"/>
            <a:ext cx="38100" cy="34747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8803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0C"/>
                </a:solidFill>
              </a:rPr>
              <a:t>Hyperparameters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31012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6CF"/>
                </a:solidFill>
              </a:rPr>
              <a:t>Optimizer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310128"/>
            <a:ext cx="2880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FE4F6"/>
                </a:solidFill>
              </a:rPr>
              <a:t>Adam  (lr = 0.001)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63931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6CF"/>
                </a:solidFill>
              </a:rPr>
              <a:t>Loss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639312"/>
            <a:ext cx="2880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FE4F6"/>
                </a:solidFill>
              </a:rPr>
              <a:t>Binary Cross-Entropy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6849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6CF"/>
                </a:solidFill>
              </a:rPr>
              <a:t>Batch 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3968496"/>
            <a:ext cx="2880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FE4F6"/>
                </a:solidFill>
              </a:rPr>
              <a:t>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9768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6CF"/>
                </a:solidFill>
              </a:rPr>
              <a:t>Input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297680"/>
            <a:ext cx="2880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FE4F6"/>
                </a:solidFill>
              </a:rPr>
              <a:t>224 × 224 ×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62686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6CF"/>
                </a:solidFill>
              </a:rPr>
              <a:t>ELA 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626864"/>
            <a:ext cx="2880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FE4F6"/>
                </a:solidFill>
              </a:rPr>
              <a:t>JPEG quality = 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9560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6CF"/>
                </a:solidFill>
              </a:rPr>
              <a:t>ELA amplification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956048"/>
            <a:ext cx="2880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FE4F6"/>
                </a:solidFill>
              </a:rPr>
              <a:t>15× brightness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28523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6CF"/>
                </a:solidFill>
              </a:rPr>
              <a:t>Framework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5285232"/>
            <a:ext cx="2880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FE4F6"/>
                </a:solidFill>
              </a:rPr>
              <a:t>TensorFlow 2.20 / Keras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61441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6CF"/>
                </a:solidFill>
              </a:rPr>
              <a:t>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614416"/>
            <a:ext cx="2880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FE4F6"/>
                </a:solidFill>
              </a:rPr>
              <a:t>Google Colab (GPU)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2743200"/>
            <a:ext cx="5897880" cy="347472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2743200"/>
            <a:ext cx="38100" cy="347472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28803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0C"/>
                </a:solidFill>
              </a:rPr>
              <a:t>Data Integrity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3310128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Stratified split (SEED = 42)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Donor &amp; tampered image pairs are kept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  in the same split to prevent leakage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CASIA naming convention parsed to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  extract source IDs before splitting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CASIA v2 contains splicing and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copy-move forgeries across diverse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categories: animals, architecture,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nature, people, and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960120"/>
            <a:ext cx="12079224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&amp; Evaluation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C1E6"/>
                </a:solidFill>
              </a:rPr>
              <a:t>Evaluated on 400 stratified CASIA v2 test images (261 authentic / 139 forged)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52881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FB6CF"/>
                </a:solidFill>
              </a:rPr>
              <a:t>NED University of Engineering &amp; Technology  ·  PG Diploma in Generative AI  · 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2881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FB6CF"/>
                </a:solidFill>
              </a:rPr>
              <a:t>7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2743200" cy="137160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188720"/>
            <a:ext cx="38100" cy="137160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29844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A9FD4"/>
                </a:solidFill>
              </a:rPr>
              <a:t>0.9774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9385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FE4F6"/>
                </a:solidFill>
              </a:rPr>
              <a:t>AUC-ROC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7248" y="1188720"/>
            <a:ext cx="2743200" cy="137160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27248" y="1188720"/>
            <a:ext cx="38100" cy="1371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7248" y="129844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CC71"/>
                </a:solidFill>
              </a:rPr>
              <a:t>~92%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9385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FE4F6"/>
                </a:solidFill>
              </a:rPr>
              <a:t>Test 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0176" y="1188720"/>
            <a:ext cx="2743200" cy="137160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0176" y="1188720"/>
            <a:ext cx="38100" cy="1371600"/>
          </a:xfrm>
          <a:prstGeom prst="rect">
            <a:avLst/>
          </a:prstGeom>
          <a:solidFill>
            <a:srgbClr val="8FC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0176" y="129844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FC1E6"/>
                </a:solidFill>
              </a:rPr>
              <a:t>0.50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19385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FE4F6"/>
                </a:solidFill>
              </a:rPr>
              <a:t>Decision 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33104" y="1188720"/>
            <a:ext cx="2743200" cy="137160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33104" y="1188720"/>
            <a:ext cx="38100" cy="13716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33104" y="129844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960C"/>
                </a:solidFill>
              </a:rPr>
              <a:t>~8%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19385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FE4F6"/>
                </a:solidFill>
              </a:rPr>
              <a:t>Error Rate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6858000" cy="3749039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406640" y="2743200"/>
            <a:ext cx="4572000" cy="3749039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06640" y="2743200"/>
            <a:ext cx="38100" cy="3749039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28803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0C"/>
                </a:solidFill>
              </a:rPr>
              <a:t>Confusion Matrix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246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6CF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246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6CF"/>
                </a:solidFill>
              </a:rPr>
              <a:t>Pred: 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3246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6CF"/>
                </a:solidFill>
              </a:rPr>
              <a:t>Pred: Forged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7216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6CF"/>
                </a:solidFill>
              </a:rPr>
              <a:t>True: 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7216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236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37216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74C3C"/>
                </a:solidFill>
              </a:rPr>
              <a:t>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197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6CF"/>
                </a:solidFill>
              </a:rPr>
              <a:t>True: Forged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4197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74C3C"/>
                </a:solidFill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4197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128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846320"/>
            <a:ext cx="4297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50" b="0">
                <a:solidFill>
                  <a:srgbClr val="CFE4F6"/>
                </a:solidFill>
              </a:defRPr>
            </a:pPr>
            <a:r>
              <a:t>• True Positives: 128 forged correctly detected</a:t>
            </a:r>
          </a:p>
          <a:p>
            <a:pPr>
              <a:spcBef>
                <a:spcPts val="400"/>
              </a:spcBef>
              <a:defRPr sz="1150" b="0">
                <a:solidFill>
                  <a:srgbClr val="CFE4F6"/>
                </a:solidFill>
              </a:defRPr>
            </a:pPr>
            <a:r>
              <a:t>• True Negatives: 236 authentic correctly passed</a:t>
            </a:r>
          </a:p>
          <a:p>
            <a:pPr>
              <a:spcBef>
                <a:spcPts val="400"/>
              </a:spcBef>
              <a:defRPr sz="1150" b="0">
                <a:solidFill>
                  <a:srgbClr val="CFE4F6"/>
                </a:solidFill>
              </a:defRPr>
            </a:pPr>
            <a:r>
              <a:t>• False Positives: 25 authentic flagged as forged</a:t>
            </a:r>
          </a:p>
          <a:p>
            <a:pPr>
              <a:spcBef>
                <a:spcPts val="400"/>
              </a:spcBef>
              <a:defRPr sz="1150" b="0">
                <a:solidFill>
                  <a:srgbClr val="CFE4F6"/>
                </a:solidFill>
              </a:defRPr>
            </a:pPr>
            <a:r>
              <a:t>• False Negatives: 11 forged missed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960120"/>
            <a:ext cx="12079224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 — Upload &amp; Prediction 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C1E6"/>
                </a:solidFill>
              </a:rPr>
              <a:t>huggingface.co/spaces/deep-learning/image-forgery-detector-v2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52881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FB6CF"/>
                </a:solidFill>
              </a:rPr>
              <a:t>NED University of Engineering &amp; Technology  ·  PG Diploma in Generative AI  · 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2881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FB6CF"/>
                </a:solidFill>
              </a:rPr>
              <a:t>8 / 11</a:t>
            </a:r>
          </a:p>
        </p:txBody>
      </p:sp>
      <p:pic>
        <p:nvPicPr>
          <p:cNvPr id="11" name="Picture 10" descr="demo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4975883" cy="527608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341643" y="1234440"/>
            <a:ext cx="3977640" cy="521208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41643" y="1234440"/>
            <a:ext cx="38100" cy="521208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06235" y="1389888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0C"/>
                </a:solidFill>
              </a:rPr>
              <a:t>How to use the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6235" y="1847088"/>
            <a:ext cx="3749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1  Open the Forgery Detector tab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2  Upload any JPG / PNG / TIFF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3  App computes ELA in real-time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4  Model predicts in &lt; 2 seconds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Result categories: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  FORGED  — score &gt; 0.55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  UNCERTAIN  — 0.45 – 0.55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  AUTHENTIC  — score &lt; 0.45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Confidence score shown below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the result badge.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960120"/>
            <a:ext cx="12079224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 — Explainability 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C1E6"/>
                </a:solidFill>
              </a:rPr>
              <a:t>ELA Artifacts and Grad-CAM heatmap for every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52881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FB6CF"/>
                </a:solidFill>
              </a:rPr>
              <a:t>NED University of Engineering &amp; Technology  ·  PG Diploma in Generative AI  · 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2881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FB6CF"/>
                </a:solidFill>
              </a:rPr>
              <a:t>9 / 11</a:t>
            </a:r>
          </a:p>
        </p:txBody>
      </p:sp>
      <p:pic>
        <p:nvPicPr>
          <p:cNvPr id="11" name="Picture 10" descr="demo_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10817"/>
            <a:ext cx="7708391" cy="499531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74151" y="1234440"/>
            <a:ext cx="3977640" cy="521208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4151" y="1234440"/>
            <a:ext cx="38100" cy="52120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3" y="1389888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0C"/>
                </a:solidFill>
              </a:rPr>
              <a:t>Explainability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3" y="1847088"/>
            <a:ext cx="3749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ELA Artifacts panel: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  Shows JPEG compression residuals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  Bright patches = tampered regions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  Uniform areas = untouched pixels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Grad-CAM Heatmap: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  Gradient-weighted activation map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  Red/yellow = high model attention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  Overlaid on original image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  Derived from last Conv2D layer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Both panels update instantly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for every uploaded image.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960120"/>
            <a:ext cx="12079224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Improvement — Initial vs Revised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C1E6"/>
                </a:solidFill>
              </a:rPr>
              <a:t>The journey from a broken prototype to a validated forensic classifier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52881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FB6CF"/>
                </a:solidFill>
              </a:rPr>
              <a:t>NED University of Engineering &amp; Technology  ·  PG Diploma in Generative AI  · 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2881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FB6CF"/>
                </a:solidFill>
              </a:rPr>
              <a:t>10 / 11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498079" cy="3657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01000" y="1188720"/>
            <a:ext cx="3931920" cy="233172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188720"/>
            <a:ext cx="38100" cy="2331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3258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Initial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7373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0">
                <a:solidFill>
                  <a:srgbClr val="CFE4F6"/>
                </a:solidFill>
              </a:defRPr>
            </a:pPr>
            <a:r>
              <a:t>• M3_best.keras (19 layers)</a:t>
            </a:r>
          </a:p>
          <a:p>
            <a:pPr>
              <a:spcBef>
                <a:spcPts val="400"/>
              </a:spcBef>
              <a:defRPr sz="1200" b="0">
                <a:solidFill>
                  <a:srgbClr val="CFE4F6"/>
                </a:solidFill>
              </a:defRPr>
            </a:pPr>
            <a:r>
              <a:t>• Internal Rescaling layer</a:t>
            </a:r>
          </a:p>
          <a:p>
            <a:pPr>
              <a:spcBef>
                <a:spcPts val="400"/>
              </a:spcBef>
              <a:defRPr sz="1200" b="0">
                <a:solidFill>
                  <a:srgbClr val="CFE4F6"/>
                </a:solidFill>
              </a:defRPr>
            </a:pPr>
            <a:r>
              <a:t>• Buggy multiply-ELA pipeline</a:t>
            </a:r>
          </a:p>
          <a:p>
            <a:pPr>
              <a:spcBef>
                <a:spcPts val="400"/>
              </a:spcBef>
              <a:defRPr sz="1200" b="0">
                <a:solidFill>
                  <a:srgbClr val="CFE4F6"/>
                </a:solidFill>
              </a:defRPr>
            </a:pPr>
            <a:r>
              <a:t>• AUC = 0.54  (near-random)</a:t>
            </a:r>
          </a:p>
          <a:p>
            <a:pPr>
              <a:spcBef>
                <a:spcPts val="400"/>
              </a:spcBef>
              <a:defRPr sz="1200" b="0">
                <a:solidFill>
                  <a:srgbClr val="CFE4F6"/>
                </a:solidFill>
              </a:defRPr>
            </a:pPr>
            <a:r>
              <a:t>• Predicts FORGED for everything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3749039"/>
            <a:ext cx="3931920" cy="233172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3749039"/>
            <a:ext cx="38100" cy="2331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38862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Revised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29768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0">
                <a:solidFill>
                  <a:srgbClr val="CFE4F6"/>
                </a:solidFill>
              </a:defRPr>
            </a:pPr>
            <a:r>
              <a:t>• M3_best_v2.h5 (191 layers)</a:t>
            </a:r>
          </a:p>
          <a:p>
            <a:pPr>
              <a:spcBef>
                <a:spcPts val="400"/>
              </a:spcBef>
              <a:defRPr sz="1200" b="0">
                <a:solidFill>
                  <a:srgbClr val="CFE4F6"/>
                </a:solidFill>
              </a:defRPr>
            </a:pPr>
            <a:r>
              <a:t>• No internal norm (correct /255)</a:t>
            </a:r>
          </a:p>
          <a:p>
            <a:pPr>
              <a:spcBef>
                <a:spcPts val="400"/>
              </a:spcBef>
              <a:defRPr sz="1200" b="0">
                <a:solidFill>
                  <a:srgbClr val="CFE4F6"/>
                </a:solidFill>
              </a:defRPr>
            </a:pPr>
            <a:r>
              <a:t>• Brightness-ELA + JPEG roundtrip</a:t>
            </a:r>
          </a:p>
          <a:p>
            <a:pPr>
              <a:spcBef>
                <a:spcPts val="400"/>
              </a:spcBef>
              <a:defRPr sz="1200" b="0">
                <a:solidFill>
                  <a:srgbClr val="CFE4F6"/>
                </a:solidFill>
              </a:defRPr>
            </a:pPr>
            <a:r>
              <a:t>• AUC = 0.974  (validated)</a:t>
            </a:r>
          </a:p>
          <a:p>
            <a:pPr>
              <a:spcBef>
                <a:spcPts val="400"/>
              </a:spcBef>
              <a:defRPr sz="1200" b="0">
                <a:solidFill>
                  <a:srgbClr val="CFE4F6"/>
                </a:solidFill>
              </a:defRPr>
            </a:pPr>
            <a:r>
              <a:t>• 92% accuracy on CASIA test 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29200"/>
            <a:ext cx="7498079" cy="146304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029200"/>
            <a:ext cx="38100" cy="146304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3892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0C"/>
                </a:solidFill>
              </a:rPr>
              <a:t>Root cause identified &amp; fixed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6811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FE4F6"/>
                </a:solidFill>
              </a:rPr>
              <a:t>ELA multiply attenuation → brightness amplification  ·  PIL bicubic resize → tf.image bilinear  ·  Missing JPEG roundtrip  ·  RGB [0,255] → /255 normalization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960120"/>
            <a:ext cx="12079224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C1E6"/>
                </a:solidFill>
              </a:rPr>
              <a:t>Summary, limitations,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52881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FB6CF"/>
                </a:solidFill>
              </a:rPr>
              <a:t>NED University of Engineering &amp; Technology  ·  PG Diploma in Generative AI  · 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2881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FB6CF"/>
                </a:solidFill>
              </a:rPr>
              <a:t>11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5486400" cy="512064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38100" cy="51206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898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0C"/>
                </a:solidFill>
              </a:rPr>
              <a:t>What We Achieved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• Dual-branch CNN (RGB + ELA) trained on CASIA v2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• AUC-ROC: 0.974  on held-out test set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• Test accuracy: ~92%  (threshold = 0.5)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• Grad-CAM explainability integrated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• Deployed on Hugging Face Spaces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• Comprehensive preprocessing pipeline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•   matching the exact training conditions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• Ablation study confirming ELA dominance</a:t>
            </a:r>
          </a:p>
          <a:p>
            <a:pPr>
              <a:spcBef>
                <a:spcPts val="400"/>
              </a:spcBef>
              <a:defRPr sz="1300" b="0">
                <a:solidFill>
                  <a:srgbClr val="CFE4F6"/>
                </a:solidFill>
              </a:defRPr>
            </a:pPr>
            <a:r>
              <a:t>• Model comparison documentation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234440"/>
            <a:ext cx="5943600" cy="237744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234440"/>
            <a:ext cx="38100" cy="2377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3898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</a:rPr>
              <a:t>Known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• Phone photos are out-of-distribution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•   (ELA residuals are large everywhere)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• CASIA-specific forgery types only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• ResNet50 backbone fully frozen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• No deepfake / GAN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794760"/>
            <a:ext cx="5943600" cy="2560320"/>
          </a:xfrm>
          <a:prstGeom prst="rect">
            <a:avLst/>
          </a:prstGeom>
          <a:solidFill>
            <a:srgbClr val="17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794760"/>
            <a:ext cx="38100" cy="256032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95020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FD4"/>
                </a:solidFill>
              </a:rPr>
              <a:t>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370832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• Fine-tune ResNet50 top layers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• Train on diverse, larger datasets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• Add GAN / deepfake detection branch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• Real-time video frame analysis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• Uncertainty quantification output</a:t>
            </a:r>
          </a:p>
          <a:p>
            <a:pPr>
              <a:spcBef>
                <a:spcPts val="400"/>
              </a:spcBef>
              <a:defRPr sz="1250" b="0">
                <a:solidFill>
                  <a:srgbClr val="CFE4F6"/>
                </a:solidFill>
              </a:defRPr>
            </a:pPr>
            <a:r>
              <a:t>• Mobile-optimised lightweight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